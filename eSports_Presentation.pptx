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61" r:id="rId14"/>
    <p:sldId id="273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0"/>
            <a:ext cx="12188952" cy="6858000"/>
          </a:xfrm>
          <a:prstGeom prst="rect">
            <a:avLst/>
          </a:prstGeom>
          <a:solidFill>
            <a:srgbClr val="0F0F1A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254" y="2532839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22376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 dirty="0">
                <a:solidFill>
                  <a:srgbClr val="A78BFA"/>
                </a:solidFill>
                <a:latin typeface="Calibri"/>
              </a:rPr>
              <a:t>E-SPORTS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073" y="185165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6B6D4"/>
                </a:solidFill>
                <a:latin typeface="Calibri"/>
              </a:rPr>
              <a:t>TOURNAMENT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073" y="280723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>
                <a:solidFill>
                  <a:srgbClr val="6B7280"/>
                </a:solidFill>
                <a:latin typeface="Calibri"/>
              </a:rPr>
              <a:t>Managing player rankings, team rosters, and multi-stage match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437" y="3355872"/>
            <a:ext cx="219456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17157" y="3413377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i="0" dirty="0">
                <a:solidFill>
                  <a:srgbClr val="FFFFFF"/>
                </a:solidFill>
                <a:latin typeface="Calibri"/>
              </a:rPr>
              <a:t>ERD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063177" y="3345471"/>
            <a:ext cx="219456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3390209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dirty="0">
                <a:solidFill>
                  <a:srgbClr val="FFFFFF"/>
                </a:solidFill>
                <a:latin typeface="Calibri"/>
              </a:rPr>
              <a:t>Relational Schema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40680" y="3347759"/>
            <a:ext cx="219456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0" y="3375918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dirty="0">
                <a:solidFill>
                  <a:srgbClr val="FFFFFF"/>
                </a:solidFill>
              </a:rPr>
              <a:t>SQL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7315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B7280"/>
                </a:solidFill>
                <a:latin typeface="Calibri"/>
              </a:rPr>
              <a:t>Database Systems Project  •  202</a:t>
            </a:r>
            <a:r>
              <a:rPr lang="en-GB" sz="1200" dirty="0">
                <a:solidFill>
                  <a:srgbClr val="6B7280"/>
                </a:solidFill>
                <a:latin typeface="Calibri"/>
              </a:rPr>
              <a:t>5/2026</a:t>
            </a:r>
            <a:endParaRPr sz="12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23F854CD-2E35-EE90-6550-0E865A97B346}"/>
              </a:ext>
            </a:extLst>
          </p:cNvPr>
          <p:cNvSpPr/>
          <p:nvPr/>
        </p:nvSpPr>
        <p:spPr>
          <a:xfrm>
            <a:off x="3063177" y="4001739"/>
            <a:ext cx="2194560" cy="347472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latin typeface="+mj-lt"/>
              </a:rPr>
              <a:t>GUI(python flask) </a:t>
            </a:r>
            <a:endParaRPr sz="1100" dirty="0">
              <a:latin typeface="+mj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8C6C526-FC28-95CE-1DE1-9F60AC7504F5}"/>
              </a:ext>
            </a:extLst>
          </p:cNvPr>
          <p:cNvSpPr/>
          <p:nvPr/>
        </p:nvSpPr>
        <p:spPr>
          <a:xfrm>
            <a:off x="502920" y="4451208"/>
            <a:ext cx="7406640" cy="170746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Presented by : </a:t>
            </a:r>
          </a:p>
          <a:p>
            <a:r>
              <a:rPr lang="en-GB" dirty="0"/>
              <a:t>Moamen Hamdi Gabr Malhat </a:t>
            </a:r>
          </a:p>
          <a:p>
            <a:r>
              <a:rPr lang="en-GB" dirty="0"/>
              <a:t>152300123</a:t>
            </a:r>
          </a:p>
          <a:p>
            <a:r>
              <a:rPr lang="en-GB" dirty="0"/>
              <a:t>Level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Is This System?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7048"/>
            <a:ext cx="11247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500" b="0" i="1" dirty="0">
                <a:solidFill>
                  <a:srgbClr val="A78BFA"/>
                </a:solidFill>
                <a:latin typeface="Calibri"/>
              </a:rPr>
              <a:t>The E-Sports Tournament Bracket Logic project is designed to manage and organize e-sports tournaments efficiently.</a:t>
            </a:r>
            <a:endParaRPr sz="1500" b="0" i="1" dirty="0">
              <a:solidFill>
                <a:srgbClr val="A78BFA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749039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64008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Calibri"/>
              </a:rPr>
              <a:t>🏟️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2024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Team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67712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Store team profiles, rankings, coaches
Track nationality &amp; stadium info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749039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64008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9385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Calibri"/>
              </a:rPr>
              <a:t>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92024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Player 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267712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Full player records with global rank
Active/Inactive status tracking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3749039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64008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19385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Calibri"/>
              </a:rPr>
              <a:t>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92024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Tournament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267712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Multi-stage bracket support
Prize pool &amp; game title tracking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40480"/>
            <a:ext cx="3749039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840480"/>
            <a:ext cx="64008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950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Calibri"/>
              </a:rPr>
              <a:t>⚔️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93192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Match &amp;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279392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Match scheduling &amp; winner tracking
Game-by-game score breakdowns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840480"/>
            <a:ext cx="3749039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80" y="3840480"/>
            <a:ext cx="64008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4840" y="3950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Calibri"/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93192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Player Stats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279392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Goals, assists &amp; MVP points per game
Linked to individual game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716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400" b="1" i="0" dirty="0">
                <a:solidFill>
                  <a:srgbClr val="FFFFFF"/>
                </a:solidFill>
                <a:latin typeface="Calibri"/>
              </a:rPr>
              <a:t>Entity Relationship Diagram(ERD)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" y="1258681"/>
            <a:ext cx="112745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BE6463-31B8-93F6-C5EE-EABD0EF5B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68" y="1374505"/>
            <a:ext cx="11002297" cy="5343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b="1" i="0" dirty="0">
                <a:solidFill>
                  <a:srgbClr val="FFFFFF"/>
                </a:solidFill>
                <a:latin typeface="Calibri"/>
              </a:rPr>
              <a:t>Database design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400" b="1" i="0" dirty="0">
                <a:solidFill>
                  <a:srgbClr val="FFFFFF"/>
                </a:solidFill>
                <a:latin typeface="Calibri"/>
              </a:rPr>
              <a:t>Relational  Mapping Schema</a:t>
            </a:r>
            <a:endParaRPr sz="3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3484" y="1321308"/>
            <a:ext cx="112745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5E022A-751F-A936-7E83-5B93AB378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48" y="1410637"/>
            <a:ext cx="11141423" cy="54473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b="1" i="0" dirty="0">
                <a:solidFill>
                  <a:srgbClr val="FFFFFF"/>
                </a:solidFill>
                <a:latin typeface="Calibri"/>
              </a:rPr>
              <a:t>SQL Code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400" b="1" i="0" dirty="0">
                <a:solidFill>
                  <a:srgbClr val="FFFFFF"/>
                </a:solidFill>
                <a:latin typeface="Calibri"/>
              </a:rPr>
              <a:t>DDL – Create Database &amp; Tables</a:t>
            </a:r>
            <a:endParaRPr sz="3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3484" y="1271999"/>
            <a:ext cx="112745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6400800" y="3447288"/>
            <a:ext cx="0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AA696F0-6B98-C761-D595-5AB4E63F7231}"/>
              </a:ext>
            </a:extLst>
          </p:cNvPr>
          <p:cNvSpPr/>
          <p:nvPr/>
        </p:nvSpPr>
        <p:spPr>
          <a:xfrm>
            <a:off x="560439" y="1582994"/>
            <a:ext cx="5533973" cy="4899217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USE master;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GO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IF EXISTS (SELECT * FROM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sys.databases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WHERE name = 'eSports')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BEGIN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DROP DATABASE eSports;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END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GO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CREATE DATABASE eSports;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GO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USE eSports;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GO</a:t>
            </a:r>
            <a:endParaRPr lang="ar-EG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ar-EG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CREATE TABLE Team (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 PRIMARY KEY,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name VARCHAR(100) NOT NULL,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logo_url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VARCHAR(255),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ranking INT CHECK (ranking &gt;= 0),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nationality VARCHAR(50),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coach_name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VARCHAR(100)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);</a:t>
            </a:r>
            <a:endParaRPr lang="ar-EG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ar-EG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ar-EG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EB63083-69B6-D474-49FF-8BCF13025788}"/>
              </a:ext>
            </a:extLst>
          </p:cNvPr>
          <p:cNvSpPr/>
          <p:nvPr/>
        </p:nvSpPr>
        <p:spPr>
          <a:xfrm>
            <a:off x="6400800" y="1582994"/>
            <a:ext cx="5533973" cy="4899217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CREATE TABLE Player (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player_id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 PRIMARY KEY,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fname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VARCHAR(50) NOT NULL,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lname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VARCHAR(50) NOT NULL,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country VARCHAR(50),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religion VARCHAR(50),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birth_date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DATE,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global_rank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 CHECK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global_rank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&gt;= 0),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status VARCHAR(30)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);</a:t>
            </a:r>
            <a:endParaRPr lang="ar-EG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ar-EG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CREATE TABLE Roaster (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player_id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join_date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DATE,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leave_date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DATE,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role VARCHAR(50),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PRIMARY KEY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,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player_id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FOREIGN KEY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    REFERENCES Team(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FOREIGN KEY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player_id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    REFERENCES Player(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player_id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2AD0B-3AED-064E-B2DA-5C07716F4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51EA38-CE70-A081-8535-58A685C987A1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A4EB49-5DA7-5BD3-6A0B-012092CB6C52}"/>
              </a:ext>
            </a:extLst>
          </p:cNvPr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7B1279-60BE-1E55-0F93-60BD1B068B05}"/>
              </a:ext>
            </a:extLst>
          </p:cNvPr>
          <p:cNvSpPr txBox="1"/>
          <p:nvPr/>
        </p:nvSpPr>
        <p:spPr>
          <a:xfrm>
            <a:off x="411480" y="2468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b="1" i="0" dirty="0">
                <a:solidFill>
                  <a:srgbClr val="FFFFFF"/>
                </a:solidFill>
                <a:latin typeface="Calibri"/>
              </a:rPr>
              <a:t>SQL Code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C76E91-3A80-2B59-F486-B231EF7042A2}"/>
              </a:ext>
            </a:extLst>
          </p:cNvPr>
          <p:cNvSpPr txBox="1"/>
          <p:nvPr/>
        </p:nvSpPr>
        <p:spPr>
          <a:xfrm>
            <a:off x="457200" y="64008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400" b="1" i="0" dirty="0">
                <a:solidFill>
                  <a:srgbClr val="FFFFFF"/>
                </a:solidFill>
                <a:latin typeface="Calibri"/>
              </a:rPr>
              <a:t>DDL – Create Database &amp; Tables</a:t>
            </a:r>
            <a:endParaRPr sz="3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B499F9-05C5-0E55-0C8C-8331C0D70039}"/>
              </a:ext>
            </a:extLst>
          </p:cNvPr>
          <p:cNvSpPr/>
          <p:nvPr/>
        </p:nvSpPr>
        <p:spPr>
          <a:xfrm>
            <a:off x="443484" y="1271999"/>
            <a:ext cx="112745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E74A0A3C-1299-ED81-C597-5B2F86E847C1}"/>
              </a:ext>
            </a:extLst>
          </p:cNvPr>
          <p:cNvCxnSpPr/>
          <p:nvPr/>
        </p:nvCxnSpPr>
        <p:spPr>
          <a:xfrm>
            <a:off x="6400800" y="3447288"/>
            <a:ext cx="0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F87503D-3FB4-54DB-9FBE-2FE2C8946631}"/>
              </a:ext>
            </a:extLst>
          </p:cNvPr>
          <p:cNvSpPr/>
          <p:nvPr/>
        </p:nvSpPr>
        <p:spPr>
          <a:xfrm>
            <a:off x="560439" y="1582994"/>
            <a:ext cx="5533973" cy="4899217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CREATE TABLE Tournaments (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tournament_id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 PRIMARY KEY,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t_name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VARCHAR(100) NOT NULL,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max_part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status VARCHAR(30),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start_date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DATE,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end_date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DATE,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game_title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VARCHAR(100),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prize_pool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DECIMAL(12,2)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);</a:t>
            </a:r>
            <a:endParaRPr lang="ar-EG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ar-EG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CREATE TABLE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RegisterTeam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(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tournament_id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PRIMARY KEY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tournament_id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,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FOREIGN KEY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tournament_id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    REFERENCES Tournaments(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tournament_id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FOREIGN KEY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    REFERENCES Team(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);</a:t>
            </a:r>
            <a:endParaRPr lang="ar-EG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9993BBD-5034-F179-857C-D988CDCCECF7}"/>
              </a:ext>
            </a:extLst>
          </p:cNvPr>
          <p:cNvSpPr/>
          <p:nvPr/>
        </p:nvSpPr>
        <p:spPr>
          <a:xfrm>
            <a:off x="6400800" y="1582994"/>
            <a:ext cx="5533973" cy="4899217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CREATE TABLE Stage (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stage_id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 PRIMARY KEY,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tournament_id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stage_name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VARCHAR(100),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stage_type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VARCHAR(50),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best_of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 CHECK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best_of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 (1,3,5)),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FOREIGN KEY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tournament_id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    REFERENCES Tournaments(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tournament_id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);</a:t>
            </a:r>
            <a:endParaRPr lang="ar-EG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ar-EG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CREATE TABLE Matches (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match_id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 PRIMARY KEY,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stage_id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team_1_id INT,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team_2_id INT,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winner_id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scheduled_at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DATETIME,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status VARCHAR(30),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FOREIGN KEY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stage_id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    REFERENCES Stage(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stage_id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FOREIGN KEY (team_1_id)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    REFERENCES Team(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),</a:t>
            </a:r>
          </a:p>
        </p:txBody>
      </p:sp>
    </p:spTree>
    <p:extLst>
      <p:ext uri="{BB962C8B-B14F-4D97-AF65-F5344CB8AC3E}">
        <p14:creationId xmlns:p14="http://schemas.microsoft.com/office/powerpoint/2010/main" val="1915002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C5671-57ED-6EA0-F485-2846340FB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57E36E-9E30-A8A6-D6FA-7D7110736B4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B85739-4899-B3F9-E6E4-1F37A55E1080}"/>
              </a:ext>
            </a:extLst>
          </p:cNvPr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69E21-4CC7-DECF-DD07-E23235B1A892}"/>
              </a:ext>
            </a:extLst>
          </p:cNvPr>
          <p:cNvSpPr txBox="1"/>
          <p:nvPr/>
        </p:nvSpPr>
        <p:spPr>
          <a:xfrm>
            <a:off x="411480" y="2468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b="1" i="0" dirty="0">
                <a:solidFill>
                  <a:srgbClr val="FFFFFF"/>
                </a:solidFill>
                <a:latin typeface="Calibri"/>
              </a:rPr>
              <a:t>SQL Code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4B743-F67D-1E6E-C1F9-BCA42516A526}"/>
              </a:ext>
            </a:extLst>
          </p:cNvPr>
          <p:cNvSpPr txBox="1"/>
          <p:nvPr/>
        </p:nvSpPr>
        <p:spPr>
          <a:xfrm>
            <a:off x="457200" y="64008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400" b="1" i="0" dirty="0">
                <a:solidFill>
                  <a:srgbClr val="FFFFFF"/>
                </a:solidFill>
                <a:latin typeface="Calibri"/>
              </a:rPr>
              <a:t>DDL – Create Database &amp; Tables</a:t>
            </a:r>
            <a:endParaRPr sz="3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400EEC-3300-82D7-1C7B-7FB3CD3E8BDC}"/>
              </a:ext>
            </a:extLst>
          </p:cNvPr>
          <p:cNvSpPr/>
          <p:nvPr/>
        </p:nvSpPr>
        <p:spPr>
          <a:xfrm>
            <a:off x="443484" y="1271999"/>
            <a:ext cx="112745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48094EFB-7B12-9363-EEAC-3906F3E7A039}"/>
              </a:ext>
            </a:extLst>
          </p:cNvPr>
          <p:cNvCxnSpPr/>
          <p:nvPr/>
        </p:nvCxnSpPr>
        <p:spPr>
          <a:xfrm>
            <a:off x="6400800" y="3447288"/>
            <a:ext cx="0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99043777-5AE4-34FE-C68E-BB7F98D72960}"/>
              </a:ext>
            </a:extLst>
          </p:cNvPr>
          <p:cNvSpPr/>
          <p:nvPr/>
        </p:nvSpPr>
        <p:spPr>
          <a:xfrm>
            <a:off x="560439" y="1582994"/>
            <a:ext cx="5533973" cy="4899217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FOREIGN KEY (team_2_id)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    REFERENCES Team(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FOREIGN KEY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winner_id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    REFERENCES Team(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);</a:t>
            </a:r>
            <a:endParaRPr lang="ar-EG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ar-EG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CREATE TABLE Bracket (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bracket_id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 PRIMARY KEY,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stage_id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bracket_position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side VARCHAR(20),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next_match_id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FOREIGN KEY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stage_id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    REFERENCES Stage(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stage_id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FOREIGN KEY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next_match_id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    REFERENCES Matches(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match_id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);</a:t>
            </a:r>
            <a:endParaRPr lang="ar-EG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D43A73A-5D99-345F-EF52-3C32080EBEAE}"/>
              </a:ext>
            </a:extLst>
          </p:cNvPr>
          <p:cNvSpPr/>
          <p:nvPr/>
        </p:nvSpPr>
        <p:spPr>
          <a:xfrm>
            <a:off x="6400800" y="1582994"/>
            <a:ext cx="5533973" cy="4899217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CREATE TABLE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GameResult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(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result_id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 PRIMARY KEY,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match_id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game_num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score_team_1 INT,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score_team_2 INT,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duration_min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winner_team_id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FOREIGN KEY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match_id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    REFERENCES Matches(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match_id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FOREIGN KEY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winner_team_id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    REFERENCES Team(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026987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603D9-C5AE-3B2F-6B96-3F0CDAE68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B8DBE0-8D7C-1944-6129-118A340D5AE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CF4252-848D-3153-EF43-3E33243AE4C7}"/>
              </a:ext>
            </a:extLst>
          </p:cNvPr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A79E83-B3BA-B34B-8977-F7EF299E43CA}"/>
              </a:ext>
            </a:extLst>
          </p:cNvPr>
          <p:cNvSpPr txBox="1"/>
          <p:nvPr/>
        </p:nvSpPr>
        <p:spPr>
          <a:xfrm>
            <a:off x="411480" y="2468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b="1" i="0" dirty="0">
                <a:solidFill>
                  <a:srgbClr val="FFFFFF"/>
                </a:solidFill>
                <a:latin typeface="Calibri"/>
              </a:rPr>
              <a:t>SQL Code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4A31EA-A45F-3272-65E9-661F80407BD2}"/>
              </a:ext>
            </a:extLst>
          </p:cNvPr>
          <p:cNvSpPr txBox="1"/>
          <p:nvPr/>
        </p:nvSpPr>
        <p:spPr>
          <a:xfrm>
            <a:off x="457200" y="64008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400" b="1" dirty="0">
                <a:solidFill>
                  <a:srgbClr val="FFFFFF"/>
                </a:solidFill>
                <a:latin typeface="Calibri"/>
              </a:rPr>
              <a:t>DML  (insert – update – select ) </a:t>
            </a:r>
            <a:endParaRPr sz="3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707B82-6745-2BA5-84A2-F7837EC43756}"/>
              </a:ext>
            </a:extLst>
          </p:cNvPr>
          <p:cNvSpPr/>
          <p:nvPr/>
        </p:nvSpPr>
        <p:spPr>
          <a:xfrm>
            <a:off x="443484" y="1271999"/>
            <a:ext cx="112745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3CC05CC6-BEDE-951E-02A5-A8EF97850828}"/>
              </a:ext>
            </a:extLst>
          </p:cNvPr>
          <p:cNvCxnSpPr/>
          <p:nvPr/>
        </p:nvCxnSpPr>
        <p:spPr>
          <a:xfrm>
            <a:off x="6400800" y="3447288"/>
            <a:ext cx="0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D75904C2-5312-8AB8-5788-C05B70D23305}"/>
              </a:ext>
            </a:extLst>
          </p:cNvPr>
          <p:cNvSpPr/>
          <p:nvPr/>
        </p:nvSpPr>
        <p:spPr>
          <a:xfrm>
            <a:off x="560439" y="1582994"/>
            <a:ext cx="5533973" cy="4899217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CREATE TABLE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PlayerStats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stat_id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 PRIMARY KEY,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result_id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player_id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goals INT,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assists INT,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mvp_pts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INT,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FOREIGN KEY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result_id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    REFERENCES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GameResult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result_id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FOREIGN KEY 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player_id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       REFERENCES Player(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player_id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);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ALTER TABLE Player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ADD email VARCHAR(100);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GO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ALTER TABLE Team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ADD stadium VARCHAR(100);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Go</a:t>
            </a:r>
            <a:endParaRPr lang="ar-EG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379E77-1737-209D-42B8-33325BE603EC}"/>
              </a:ext>
            </a:extLst>
          </p:cNvPr>
          <p:cNvSpPr/>
          <p:nvPr/>
        </p:nvSpPr>
        <p:spPr>
          <a:xfrm>
            <a:off x="6400800" y="1582994"/>
            <a:ext cx="5533973" cy="4899217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INSERT INTO Team VALUES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(1, 'Real Madrid', 'realmadrid.png', 1, 'Spain', 'Carlo Ancelotti'),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(2, 'Manchester City', 'mancity.png', 2, 'England', 'Pep Guardiola'),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(3, 'Al Ahly', 'alahly.png', 3, 'Egypt', 'Marcel Koller'),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(4, 'Barcelona', 'barcelona.png', 4, 'Spain', 'Xavi Hernandez'),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(5, 'Liverpool', 'liverpool.png', 5, 'England', 'Jurgen Klopp'),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(6, 'Bayern Munich', 'bayern.png', 6, 'Germany', 'Thomas Tuchel'),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(7, 'Juventus', 'juventus.png', 7, 'Italy', 'Massimiliano Allegri'),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(8, 'PSG', 'psg.png', 8, 'France', 'Luis Enrique’);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INSERT INTO Player VALUES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(101, 'Mohamed', 'Salah', '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Egypt','Muslim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', '1992-06-15', 1, 'Active', 'salah@gmail.com'),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(102, 'Lionel', 'Messi', '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Argentina','Christian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', '1987-06-24', 2, 'Active', 'messi@gmail.com'),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(103, 'Cristiano', 'Ronaldo', '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Portugal','Christian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', '1985-02-05', 3, 'Active', 'ronaldo@gmail.com'),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(104, 'Kylian', 'Mbappe', '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France','Christian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', '1998-12-20', 4, 'Active', 'mbappe@gmail.com'),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(105, 'Neymar', 'Junior', '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Brazil','Christian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', '1992-02-05', 5, 'Inactive', 'neymar@gmail.com'),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(106, 'Kevin', 'De Bruyne', '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Belgium','Christian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', '1991-06-28', 6, 'Active', 'kevin@gmail.com'),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(107, 'Harry', 'Kane', '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England','Christian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', '1993-07-28', 7, 'Active', 'kane@gmail.com'),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(108, 'Vinicius', 'Junior', '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Brazil','Christian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', '2000-07-12', 8, 'Active', 'vinicius@gmail.com'),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(109, 'Jude', 'Bellingham', '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England','Christian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', '2003-06-29', 9, 'Active', 'jude@gmail.com'),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(110, 'Erling', 'Haaland', '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Norway','Christian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', '2000-07-21', 10, 'Active', 'haaland@gmail.com');</a:t>
            </a:r>
          </a:p>
        </p:txBody>
      </p:sp>
    </p:spTree>
    <p:extLst>
      <p:ext uri="{BB962C8B-B14F-4D97-AF65-F5344CB8AC3E}">
        <p14:creationId xmlns:p14="http://schemas.microsoft.com/office/powerpoint/2010/main" val="3828744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82935-796D-BB46-D060-E3AD3C558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88C947-E9A2-5439-2F61-EFF6E39D962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B3B63-4843-AF6E-C1FA-17B7FD39204E}"/>
              </a:ext>
            </a:extLst>
          </p:cNvPr>
          <p:cNvSpPr/>
          <p:nvPr/>
        </p:nvSpPr>
        <p:spPr>
          <a:xfrm>
            <a:off x="365760" y="114300"/>
            <a:ext cx="201168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7748F1-557A-8B46-0CB7-5730DDB9C397}"/>
              </a:ext>
            </a:extLst>
          </p:cNvPr>
          <p:cNvSpPr txBox="1"/>
          <p:nvPr/>
        </p:nvSpPr>
        <p:spPr>
          <a:xfrm>
            <a:off x="411480" y="1325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b="1" i="0" dirty="0">
                <a:solidFill>
                  <a:srgbClr val="FFFFFF"/>
                </a:solidFill>
                <a:latin typeface="Calibri"/>
              </a:rPr>
              <a:t>SQL Code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E6241-5A85-7DFD-E650-22A904F5077C}"/>
              </a:ext>
            </a:extLst>
          </p:cNvPr>
          <p:cNvSpPr txBox="1"/>
          <p:nvPr/>
        </p:nvSpPr>
        <p:spPr>
          <a:xfrm>
            <a:off x="457200" y="406908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400" b="1" dirty="0">
                <a:solidFill>
                  <a:srgbClr val="FFFFFF"/>
                </a:solidFill>
                <a:latin typeface="Calibri"/>
              </a:rPr>
              <a:t>DML  (insert – update – select ) </a:t>
            </a:r>
            <a:endParaRPr sz="3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A67EF6-2DAC-44F5-BA9F-0A59AC814ED6}"/>
              </a:ext>
            </a:extLst>
          </p:cNvPr>
          <p:cNvSpPr/>
          <p:nvPr/>
        </p:nvSpPr>
        <p:spPr>
          <a:xfrm>
            <a:off x="411480" y="968326"/>
            <a:ext cx="112745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A5998B5E-6F1F-49DB-31ED-63A8BBF529A8}"/>
              </a:ext>
            </a:extLst>
          </p:cNvPr>
          <p:cNvCxnSpPr/>
          <p:nvPr/>
        </p:nvCxnSpPr>
        <p:spPr>
          <a:xfrm>
            <a:off x="6400800" y="3447288"/>
            <a:ext cx="0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3E8D58C-8801-CFCA-1622-4209DBCDE2B0}"/>
              </a:ext>
            </a:extLst>
          </p:cNvPr>
          <p:cNvSpPr/>
          <p:nvPr/>
        </p:nvSpPr>
        <p:spPr>
          <a:xfrm>
            <a:off x="560439" y="1229033"/>
            <a:ext cx="5533973" cy="5427406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INSERT INTO Roaster VALUES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(1, 108, '2025-01-01', NULL, 'Forward'),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(1, 109, '2025-01-01', NULL, 'Midfielder'),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(2, 106, '2025-01-05', NULL, 'Midfielder'),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(2, 110, '2025-01-05', NULL, 'Striker'),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(5, 101, '2025-01-10', NULL, 'Right Wing'),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(8, 102, '2025-01-15', NULL, 'Forward'),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(8, 104, '2025-01-15', NULL, 'Attacker'),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(7, 103, '2025-01-20', NULL, 'Forward'),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(6, 107, '2025-01-25', NULL, 'Striker'),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(8, 105, '2025-02-01', NULL, 'Playmaker’);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INSERT INTO Tournaments VALUES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(201, 'UEFA Champions League', 32, 'Open','2025-09-01', '2026-05-30','Football', 200000000),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(202, 'FIFA Club World Cup', 16, 'Closed','2025-06-15', '2025-07-13','Football', 100000000),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(203, 'Premier League Cup', 20, 'Open','2025-08-10', '2026-05-20','Football', 80000000);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INSERT INTO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RegisterTeam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VALUES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(201, 1),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(201, 2),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(201, 4),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(201, 5),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(202, 1),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(202, 3),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(202, 8),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(203, 2),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(203, 5);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FD6C1ED-81B0-0AD7-C247-9CA26E0908D2}"/>
              </a:ext>
            </a:extLst>
          </p:cNvPr>
          <p:cNvSpPr/>
          <p:nvPr/>
        </p:nvSpPr>
        <p:spPr>
          <a:xfrm>
            <a:off x="6400800" y="1229033"/>
            <a:ext cx="5533973" cy="5427405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INSERT INTO Stage VALUES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(301, 201, 'Group Stage', 'Groups', 1),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(302, 201, 'Quarter Final', 'Knockout', 1),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(303, 201, 'Semi Final', 'Knockout', 1),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(304, 201, 'Final', 'Knockout', 1),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(305, 202, 'Semi Final', 'Knockout', 1),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(306, 202, 'Final', 'Knockout', 1),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(307, 203, 'League Stage', 'League', 1);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INSERT INTO Matches VALUES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(401, 301, 1, 2, 1,'2025-09-10 20:00:00', 'Finished'),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(402, 301, 4, 5, 5,'2025-09-11 21:00:00', 'Finished'),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(403, 302, 1, 5, 1,'2025-10-02 22:00:00', 'Finished'),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(404, 303, 1, 8, 8,'2025-11-05 21:00:00', 'Finished'),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(405, 304, 8, 2, 8,'2026-05-30 22:00:00', 'Finished'),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(406, 305, 1, 3, 1,'2025-06-20 19:00:00', 'Finished'),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(407, 306, 1, 8, 8,'2025-07-13 22:00:00', 'Finished');</a:t>
            </a:r>
          </a:p>
        </p:txBody>
      </p:sp>
    </p:spTree>
    <p:extLst>
      <p:ext uri="{BB962C8B-B14F-4D97-AF65-F5344CB8AC3E}">
        <p14:creationId xmlns:p14="http://schemas.microsoft.com/office/powerpoint/2010/main" val="3871613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5401F-750F-FD66-3248-8FB0FCE54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2F3F5C-B2A7-0A6B-F8A0-5713FCF4A645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3C643F-74E9-FF9C-90D5-18DBFC63C612}"/>
              </a:ext>
            </a:extLst>
          </p:cNvPr>
          <p:cNvSpPr/>
          <p:nvPr/>
        </p:nvSpPr>
        <p:spPr>
          <a:xfrm>
            <a:off x="365760" y="114300"/>
            <a:ext cx="201168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9C6AB0-0747-309B-509B-D2460B53160B}"/>
              </a:ext>
            </a:extLst>
          </p:cNvPr>
          <p:cNvSpPr txBox="1"/>
          <p:nvPr/>
        </p:nvSpPr>
        <p:spPr>
          <a:xfrm>
            <a:off x="411480" y="1325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b="1" i="0" dirty="0">
                <a:solidFill>
                  <a:srgbClr val="FFFFFF"/>
                </a:solidFill>
                <a:latin typeface="Calibri"/>
              </a:rPr>
              <a:t>SQL Code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67A07C-562E-EF9F-7CD8-B4D401054BA2}"/>
              </a:ext>
            </a:extLst>
          </p:cNvPr>
          <p:cNvSpPr txBox="1"/>
          <p:nvPr/>
        </p:nvSpPr>
        <p:spPr>
          <a:xfrm>
            <a:off x="457200" y="406908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400" b="1" dirty="0">
                <a:solidFill>
                  <a:srgbClr val="FFFFFF"/>
                </a:solidFill>
                <a:latin typeface="Calibri"/>
              </a:rPr>
              <a:t>DML  (insert – update – select ) </a:t>
            </a:r>
            <a:endParaRPr sz="3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9618A3-280A-F715-E1D1-64B722C33665}"/>
              </a:ext>
            </a:extLst>
          </p:cNvPr>
          <p:cNvSpPr/>
          <p:nvPr/>
        </p:nvSpPr>
        <p:spPr>
          <a:xfrm>
            <a:off x="411480" y="968326"/>
            <a:ext cx="112745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44FB5884-B699-9784-2A6A-A5034EECAA11}"/>
              </a:ext>
            </a:extLst>
          </p:cNvPr>
          <p:cNvCxnSpPr/>
          <p:nvPr/>
        </p:nvCxnSpPr>
        <p:spPr>
          <a:xfrm>
            <a:off x="6400800" y="3447288"/>
            <a:ext cx="0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1AAA6DED-E95B-0AC2-40EB-82045771FAD6}"/>
              </a:ext>
            </a:extLst>
          </p:cNvPr>
          <p:cNvSpPr/>
          <p:nvPr/>
        </p:nvSpPr>
        <p:spPr>
          <a:xfrm>
            <a:off x="560439" y="1229033"/>
            <a:ext cx="5533973" cy="5427406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INSERT INTO Bracket VALUES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(501, 301, 1, 'Upper', 403),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(502, 301, 2, 'Upper', 403),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(503, 302, 3, 'Upper', 404),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(504, 303, 4, 'Upper', 405),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(505, 304, 5, 'Final', NULL),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(506, 305, 6, 'Upper', 407),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(507, 306, 7, 'Final', NULL);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INSERT INTO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GameResult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VALUES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(601, 401, 1, 3, 1, 90, 1),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(602, 402, 1, 1, 2, 90, 5),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(603, 403, 1, 2, 0, 90, 1),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(604, 404, 1, 1, 3, 90, 8),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(605, 405, 1, 2, 4, 90, 8),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(606, 406, 1, 3, 1, 90, 1),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(607, 407, 1, 0, 2, 90, 8);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INSERT INTO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PlayerStats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VALUES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(701, 601, 108, 2, 1, 9),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(702, 601, 110, 1, 0, 7),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(703, 602, 101, 1, 1, 8),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(704, 603, 109, 1, 2, 9),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(705, 604, 102, 2, 1, 10),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(706, 604, 104, 1, 0, 8),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66A1CD9-5E6F-D6C7-0056-077FF020BCB0}"/>
              </a:ext>
            </a:extLst>
          </p:cNvPr>
          <p:cNvSpPr/>
          <p:nvPr/>
        </p:nvSpPr>
        <p:spPr>
          <a:xfrm>
            <a:off x="6400800" y="1229033"/>
            <a:ext cx="5533973" cy="5427405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(707, 605, 102, 2, 1, 10),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(708, 606, 108, 1, 1, 8),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(709, 607, 104, 1, 1, 9);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UPDATE Team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SET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coach_name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= 'Alvaro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Arbeloua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'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WHERE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= 1;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UPDATE Team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SET ranking = 10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WHERE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= 2;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UPDATE Player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SET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global_rank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= 1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WHERE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player_id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= 102;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UPDATE Matches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SET status = 'Completed'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WHERE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match_id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= 405;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</p:spTree>
    <p:extLst>
      <p:ext uri="{BB962C8B-B14F-4D97-AF65-F5344CB8AC3E}">
        <p14:creationId xmlns:p14="http://schemas.microsoft.com/office/powerpoint/2010/main" val="2361790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5FDAE-6E53-1A10-D964-B2D0D139F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FD636E-FC93-530B-E8FB-BDD206C7BDC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4DBD25-C68D-2948-D077-88BF4BBC8790}"/>
              </a:ext>
            </a:extLst>
          </p:cNvPr>
          <p:cNvSpPr/>
          <p:nvPr/>
        </p:nvSpPr>
        <p:spPr>
          <a:xfrm>
            <a:off x="365760" y="114300"/>
            <a:ext cx="201168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256CB-8DAB-6C94-F7CC-B53838183292}"/>
              </a:ext>
            </a:extLst>
          </p:cNvPr>
          <p:cNvSpPr txBox="1"/>
          <p:nvPr/>
        </p:nvSpPr>
        <p:spPr>
          <a:xfrm>
            <a:off x="411480" y="1325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b="1" i="0" dirty="0">
                <a:solidFill>
                  <a:srgbClr val="FFFFFF"/>
                </a:solidFill>
                <a:latin typeface="Calibri"/>
              </a:rPr>
              <a:t>SQL Code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410FD-BDF1-9E28-B532-0C0D38B5CD61}"/>
              </a:ext>
            </a:extLst>
          </p:cNvPr>
          <p:cNvSpPr txBox="1"/>
          <p:nvPr/>
        </p:nvSpPr>
        <p:spPr>
          <a:xfrm>
            <a:off x="457200" y="406908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400" b="1" dirty="0">
                <a:solidFill>
                  <a:srgbClr val="FFFFFF"/>
                </a:solidFill>
                <a:latin typeface="Calibri"/>
              </a:rPr>
              <a:t>DML  (insert – update – select ) </a:t>
            </a:r>
            <a:endParaRPr sz="3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A353FB-683D-A56D-7364-01B05B1E4B38}"/>
              </a:ext>
            </a:extLst>
          </p:cNvPr>
          <p:cNvSpPr/>
          <p:nvPr/>
        </p:nvSpPr>
        <p:spPr>
          <a:xfrm>
            <a:off x="411480" y="968326"/>
            <a:ext cx="112745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EDAA4AE2-F153-3283-0DDF-65CB1408A5A1}"/>
              </a:ext>
            </a:extLst>
          </p:cNvPr>
          <p:cNvCxnSpPr/>
          <p:nvPr/>
        </p:nvCxnSpPr>
        <p:spPr>
          <a:xfrm>
            <a:off x="6400800" y="3447288"/>
            <a:ext cx="0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D6B614C2-5631-94B8-7E56-082320C16544}"/>
              </a:ext>
            </a:extLst>
          </p:cNvPr>
          <p:cNvSpPr/>
          <p:nvPr/>
        </p:nvSpPr>
        <p:spPr>
          <a:xfrm>
            <a:off x="560439" y="1229033"/>
            <a:ext cx="5533973" cy="5427406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INSERT INTO Bracket VALUES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(501, 301, 1, 'Upper', 403),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(502, 301, 2, 'Upper', 403),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(503, 302, 3, 'Upper', 404),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(504, 303, 4, 'Upper', 405),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(505, 304, 5, 'Final', NULL),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(506, 305, 6, 'Upper', 407),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(507, 306, 7, 'Final', NULL);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INSERT INTO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GameResult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VALUES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(601, 401, 1, 3, 1, 90, 1),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(602, 402, 1, 1, 2, 90, 5),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(603, 403, 1, 2, 0, 90, 1),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(604, 404, 1, 1, 3, 90, 8),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(605, 405, 1, 2, 4, 90, 8),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(606, 406, 1, 3, 1, 90, 1),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(607, 407, 1, 0, 2, 90, 8);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INSERT INTO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PlayerStats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VALUES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(701, 601, 108, 2, 1, 9),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(702, 601, 110, 1, 0, 7),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(703, 602, 101, 1, 1, 8),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(704, 603, 109, 1, 2, 9),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(705, 604, 102, 2, 1, 10),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(706, 604, 104, 1, 0, 8),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2A2E512-09A9-F374-C258-433E42CFD97F}"/>
              </a:ext>
            </a:extLst>
          </p:cNvPr>
          <p:cNvSpPr/>
          <p:nvPr/>
        </p:nvSpPr>
        <p:spPr>
          <a:xfrm>
            <a:off x="6400800" y="1229033"/>
            <a:ext cx="5533973" cy="5427405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(707, 605, 102, 2, 1, 10),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(708, 606, 108, 1, 1, 8),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(709, 607, 104, 1, 1, 9);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UPDATE Team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SET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coach_name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= 'Alvaro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Arbeloua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'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WHERE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= 1;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UPDATE Team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SET ranking = 10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WHERE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team_id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= 2;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UPDATE Player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SET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global_rank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= 1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WHERE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player_id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= 102;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UPDATE Matches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SET status = 'Completed'</a:t>
            </a: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WHERE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match_id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= 405;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</p:spTree>
    <p:extLst>
      <p:ext uri="{BB962C8B-B14F-4D97-AF65-F5344CB8AC3E}">
        <p14:creationId xmlns:p14="http://schemas.microsoft.com/office/powerpoint/2010/main" val="2903656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40155-B66F-589A-B1B9-2CF78BA8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C19576-3EC1-7100-7363-39188785FA9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383930-B7A7-CCAC-F40D-91384E3EB3EA}"/>
              </a:ext>
            </a:extLst>
          </p:cNvPr>
          <p:cNvSpPr/>
          <p:nvPr/>
        </p:nvSpPr>
        <p:spPr>
          <a:xfrm>
            <a:off x="365760" y="114300"/>
            <a:ext cx="201168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8A71A-8721-1331-4646-05CCBAD51B65}"/>
              </a:ext>
            </a:extLst>
          </p:cNvPr>
          <p:cNvSpPr txBox="1"/>
          <p:nvPr/>
        </p:nvSpPr>
        <p:spPr>
          <a:xfrm>
            <a:off x="411480" y="1325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b="1" i="0" dirty="0">
                <a:solidFill>
                  <a:srgbClr val="FFFFFF"/>
                </a:solidFill>
                <a:latin typeface="Calibri"/>
              </a:rPr>
              <a:t>SQL Code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02988-B76E-921D-55A0-D5B85FA9D0E3}"/>
              </a:ext>
            </a:extLst>
          </p:cNvPr>
          <p:cNvSpPr txBox="1"/>
          <p:nvPr/>
        </p:nvSpPr>
        <p:spPr>
          <a:xfrm>
            <a:off x="457200" y="406908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400" b="1" dirty="0">
                <a:solidFill>
                  <a:srgbClr val="FFFFFF"/>
                </a:solidFill>
                <a:latin typeface="Calibri"/>
              </a:rPr>
              <a:t>DML  (insert ) ---- view Tables</a:t>
            </a:r>
            <a:endParaRPr sz="3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D14AE8-385B-59FC-C641-E4D862397C91}"/>
              </a:ext>
            </a:extLst>
          </p:cNvPr>
          <p:cNvSpPr/>
          <p:nvPr/>
        </p:nvSpPr>
        <p:spPr>
          <a:xfrm>
            <a:off x="411480" y="968326"/>
            <a:ext cx="112745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E8A6A8EC-4576-209C-99E0-FC665499FF94}"/>
              </a:ext>
            </a:extLst>
          </p:cNvPr>
          <p:cNvCxnSpPr/>
          <p:nvPr/>
        </p:nvCxnSpPr>
        <p:spPr>
          <a:xfrm>
            <a:off x="6400800" y="3447288"/>
            <a:ext cx="0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A443CC9-606D-FF95-AC73-F36A612F4524}"/>
              </a:ext>
            </a:extLst>
          </p:cNvPr>
          <p:cNvSpPr/>
          <p:nvPr/>
        </p:nvSpPr>
        <p:spPr>
          <a:xfrm>
            <a:off x="560439" y="1229033"/>
            <a:ext cx="5533973" cy="5427406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SELECT * FROM Team;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SELECT * FROM Player;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SELECT * FROM Tournaments;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SELECT * FROM Matches;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SELECT * FROM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GameResult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;</a:t>
            </a:r>
          </a:p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  <a:p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SELECT * FROM </a:t>
            </a:r>
            <a:r>
              <a:rPr lang="en-GB" sz="11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PlayerStats</a:t>
            </a:r>
            <a:r>
              <a:rPr lang="en-GB" sz="11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;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17EB0DA-E656-E72F-B2F4-EE52B3A925A3}"/>
              </a:ext>
            </a:extLst>
          </p:cNvPr>
          <p:cNvSpPr/>
          <p:nvPr/>
        </p:nvSpPr>
        <p:spPr>
          <a:xfrm>
            <a:off x="6400800" y="1229033"/>
            <a:ext cx="5533973" cy="5427405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1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26402A-5BBD-FC18-BB2B-C42D3CDAD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766" y="1229033"/>
            <a:ext cx="5508039" cy="24285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470E5D-C484-4B54-E05B-74C0C33C0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8" y="3659027"/>
            <a:ext cx="5533973" cy="299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059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GUI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40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GUI</a:t>
            </a:r>
            <a:endParaRPr sz="3400" i="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>
                <a:solidFill>
                  <a:srgbClr val="A78BFA"/>
                </a:solidFill>
                <a:latin typeface="Calibri"/>
              </a:rPr>
              <a:t>Python Flask + </a:t>
            </a:r>
            <a:r>
              <a:rPr lang="en-GB" sz="1500" i="1" dirty="0">
                <a:solidFill>
                  <a:srgbClr val="A78BFA"/>
                </a:solidFill>
                <a:latin typeface="Calibri"/>
              </a:rPr>
              <a:t>html + </a:t>
            </a:r>
            <a:r>
              <a:rPr lang="en-GB" sz="1500" i="1" dirty="0" err="1">
                <a:solidFill>
                  <a:srgbClr val="A78BFA"/>
                </a:solidFill>
                <a:latin typeface="Calibri"/>
              </a:rPr>
              <a:t>css</a:t>
            </a:r>
            <a:r>
              <a:rPr sz="1500" b="0" i="1" dirty="0">
                <a:solidFill>
                  <a:srgbClr val="A78BFA"/>
                </a:solidFill>
                <a:latin typeface="Calibri"/>
              </a:rPr>
              <a:t> → SQL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" y="1333357"/>
            <a:ext cx="112745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0" y="4636008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400" b="0" i="0" dirty="0">
              <a:solidFill>
                <a:srgbClr val="A78BFA"/>
              </a:solidFill>
              <a:latin typeface="Calibri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A5149FC-196E-ED47-E3F3-C89CCF76D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6" y="1787872"/>
            <a:ext cx="5013579" cy="238131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BBCC745-62EE-42F6-798C-6F21F8627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1771962"/>
            <a:ext cx="5124194" cy="239912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2C4344F-97E9-5CFA-7122-39F1FE5EB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50" y="4299242"/>
            <a:ext cx="5033065" cy="23813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C2CC9DA-6679-806D-8946-7AC4B8EB4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11" y="4378928"/>
            <a:ext cx="5201119" cy="23016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63C6C-5007-4380-192B-4A08A0C2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C81F71-9FD8-001A-9AB9-C518CA07284F}"/>
              </a:ext>
            </a:extLst>
          </p:cNvPr>
          <p:cNvSpPr/>
          <p:nvPr/>
        </p:nvSpPr>
        <p:spPr>
          <a:xfrm>
            <a:off x="-127" y="0"/>
            <a:ext cx="12188952" cy="6858000"/>
          </a:xfrm>
          <a:prstGeom prst="rect">
            <a:avLst/>
          </a:prstGeom>
          <a:solidFill>
            <a:srgbClr val="0F0F1A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6ECDF4-45A2-13E3-EC34-AEE012664510}"/>
              </a:ext>
            </a:extLst>
          </p:cNvPr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8BFA9-61A4-1D79-CE52-1245D6F4AE01}"/>
              </a:ext>
            </a:extLst>
          </p:cNvPr>
          <p:cNvSpPr txBox="1"/>
          <p:nvPr/>
        </p:nvSpPr>
        <p:spPr>
          <a:xfrm>
            <a:off x="339213" y="2472518"/>
            <a:ext cx="82296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6800" b="1" dirty="0">
                <a:solidFill>
                  <a:srgbClr val="A78BFA"/>
                </a:solidFill>
                <a:latin typeface="Calibri"/>
              </a:rPr>
              <a:t>Thank you</a:t>
            </a:r>
          </a:p>
          <a:p>
            <a:pPr algn="l"/>
            <a:r>
              <a:rPr lang="en-GB" sz="3600" b="1" i="0" dirty="0">
                <a:solidFill>
                  <a:srgbClr val="A78BFA"/>
                </a:solidFill>
                <a:latin typeface="Calibri"/>
              </a:rPr>
              <a:t>For your patience</a:t>
            </a:r>
            <a:endParaRPr sz="3600" b="1" i="0" dirty="0">
              <a:solidFill>
                <a:srgbClr val="A78BF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770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2609</Words>
  <Application>Microsoft Office PowerPoint</Application>
  <PresentationFormat>Custom</PresentationFormat>
  <Paragraphs>422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Moamen Hamdi Gabr Malhat</dc:creator>
  <cp:keywords/>
  <dc:description>generated using python-pptx</dc:description>
  <cp:lastModifiedBy>Moamen Hamdy</cp:lastModifiedBy>
  <cp:revision>7</cp:revision>
  <dcterms:created xsi:type="dcterms:W3CDTF">2013-01-27T09:14:16Z</dcterms:created>
  <dcterms:modified xsi:type="dcterms:W3CDTF">2026-05-20T20:21:09Z</dcterms:modified>
  <cp:category/>
</cp:coreProperties>
</file>